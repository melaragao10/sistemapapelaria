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1595930"/>
            <a:ext cx="6429375" cy="61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-1" kern="0" dirty="0">
                <a:solidFill>
                  <a:srgbClr val="2C3E50"/>
                </a:solidFill>
              </a:rPr>
              <a:t>Sistema PapelariaHub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1357313" y="2384589"/>
            <a:ext cx="64293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2C3E50"/>
                </a:solidFill>
              </a:rPr>
              <a:t>Controle Completo de Estoque de Materiais de Papelaria</a:t>
            </a:r>
            <a:endParaRPr lang="en-US" sz="1924" dirty="0"/>
          </a:p>
        </p:txBody>
      </p:sp>
      <p:sp>
        <p:nvSpPr>
          <p:cNvPr id="5" name="Text 2"/>
          <p:cNvSpPr/>
          <p:nvPr/>
        </p:nvSpPr>
        <p:spPr>
          <a:xfrm>
            <a:off x="1357313" y="3333257"/>
            <a:ext cx="6429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spc="1" kern="0" dirty="0">
                <a:solidFill>
                  <a:srgbClr val="E67E22"/>
                </a:solidFill>
              </a:rPr>
              <a:t>Desenvolvido com Flask + SQLite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O PapelariaHub: Gerenciamento Inteligente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00163"/>
            <a:ext cx="38219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O PapelariaHub é um sistema web completo para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C3E50"/>
                </a:solidFill>
              </a:rPr>
              <a:t>organizar, acompanhar e analisar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o consumo de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materiais de papelaria com precisão e eficiência.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2200275"/>
            <a:ext cx="357188" cy="357188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84" y="2293144"/>
            <a:ext cx="150019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1563" y="2200275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Controle Total: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Gerenciamento de estoque, entradas,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saídas e relatórios integrados.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571500" y="2764631"/>
            <a:ext cx="357188" cy="357188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857500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1563" y="2764631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Tecnologia: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Construído com Flask + SQLite, garantindo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leveza, rapidez e portabilidade.</a:t>
            </a:r>
            <a:endParaRPr lang="en-US" sz="885" dirty="0"/>
          </a:p>
        </p:txBody>
      </p:sp>
      <p:sp>
        <p:nvSpPr>
          <p:cNvPr id="13" name="Shape 8"/>
          <p:cNvSpPr/>
          <p:nvPr/>
        </p:nvSpPr>
        <p:spPr>
          <a:xfrm>
            <a:off x="571500" y="3328988"/>
            <a:ext cx="357188" cy="357188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9" y="3421856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1563" y="3328988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Análise: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Relatórios filtrados e previsão de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esgotamento baseada em histórico.</a:t>
            </a:r>
            <a:endParaRPr lang="en-US" sz="885" dirty="0"/>
          </a:p>
        </p:txBody>
      </p:sp>
      <p:sp>
        <p:nvSpPr>
          <p:cNvPr id="16" name="Shape 10"/>
          <p:cNvSpPr/>
          <p:nvPr/>
        </p:nvSpPr>
        <p:spPr>
          <a:xfrm>
            <a:off x="571500" y="3893344"/>
            <a:ext cx="357188" cy="357188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84" y="3986213"/>
            <a:ext cx="150019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71563" y="3893344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Persistência: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 Banco de dados SQLite salva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permanentemente todos os dados.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4750594" y="2011747"/>
            <a:ext cx="3821906" cy="902903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0" name="Shape 13"/>
          <p:cNvSpPr/>
          <p:nvPr/>
        </p:nvSpPr>
        <p:spPr>
          <a:xfrm>
            <a:off x="4750594" y="2011747"/>
            <a:ext cx="42863" cy="902903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4"/>
          <p:cNvSpPr/>
          <p:nvPr/>
        </p:nvSpPr>
        <p:spPr>
          <a:xfrm>
            <a:off x="4750594" y="2011747"/>
            <a:ext cx="3821906" cy="9029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Objetivo Principal: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 Automatizar o gerenciamento 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insumos, facilitando o controle operacional diário e 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tomada de decisão estratégica.</a:t>
            </a:r>
            <a:endParaRPr lang="en-US" sz="885" dirty="0"/>
          </a:p>
        </p:txBody>
      </p:sp>
      <p:sp>
        <p:nvSpPr>
          <p:cNvPr id="22" name="Shape 15"/>
          <p:cNvSpPr/>
          <p:nvPr/>
        </p:nvSpPr>
        <p:spPr>
          <a:xfrm>
            <a:off x="4750594" y="3128963"/>
            <a:ext cx="3821906" cy="902903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Shape 16"/>
          <p:cNvSpPr/>
          <p:nvPr/>
        </p:nvSpPr>
        <p:spPr>
          <a:xfrm>
            <a:off x="4750594" y="3128963"/>
            <a:ext cx="42863" cy="90290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4" name="Text 17"/>
          <p:cNvSpPr/>
          <p:nvPr/>
        </p:nvSpPr>
        <p:spPr>
          <a:xfrm>
            <a:off x="4750594" y="3128963"/>
            <a:ext cx="3821906" cy="9029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Ideal para: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 Ambientes acadêmicos, pequenas empresas 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organizações que necessitam de controle eficiente 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materiais com interface intuitiva.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Organização Estratégica: Grupos e Itens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28725"/>
            <a:ext cx="72009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A base do PapelariaHub é a organização detalhada do estoque, facilitando buscas, relatórios e controle eficiente.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1648755"/>
            <a:ext cx="3911203" cy="1178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50094" y="1827349"/>
            <a:ext cx="357188" cy="357188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3" y="1920218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0156" y="1827349"/>
            <a:ext cx="305395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Grupos de Itens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1250156" y="2134530"/>
            <a:ext cx="30539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Criação de categorias como "Papel", "Escrita", "Organização" e "Adesivos" para estruturar o estoque de forma lógica.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4661297" y="1648755"/>
            <a:ext cx="3911203" cy="1178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839891" y="1827349"/>
            <a:ext cx="357188" cy="357188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759" y="1920218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9953" y="1827349"/>
            <a:ext cx="305395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Cadastro Detalhado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5339953" y="2134530"/>
            <a:ext cx="30539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Registro completo de cada item com nome, unidade de medida, quantidade inicial e limite mínimo de estoque.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571500" y="3006068"/>
            <a:ext cx="3911203" cy="10072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750094" y="3184661"/>
            <a:ext cx="357188" cy="357188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47" y="3277530"/>
            <a:ext cx="192881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50156" y="3184661"/>
            <a:ext cx="305395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Localização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1250156" y="3491843"/>
            <a:ext cx="30539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Rastreamento da posição física de cada item (prateleira, gaveta) para recuperação rápida e eficiente.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4661297" y="3006068"/>
            <a:ext cx="3911203" cy="10072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839891" y="3184661"/>
            <a:ext cx="357188" cy="357188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759" y="3277530"/>
            <a:ext cx="171450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39953" y="3184661"/>
            <a:ext cx="305395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Status e Controle</a:t>
            </a:r>
            <a:endParaRPr lang="en-US" sz="1090" dirty="0"/>
          </a:p>
        </p:txBody>
      </p:sp>
      <p:sp>
        <p:nvSpPr>
          <p:cNvPr id="26" name="Text 19"/>
          <p:cNvSpPr/>
          <p:nvPr/>
        </p:nvSpPr>
        <p:spPr>
          <a:xfrm>
            <a:off x="5339953" y="3491843"/>
            <a:ext cx="30539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Identificação automática de itens com estoque baixo e visualização clara da situação de cada material.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149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Controle Operacional: Entradas e Saídas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28725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O sistema registra todas as movimentações de estoque com precisão, garantindo atualização automática e controle operacional eficiente.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2024472"/>
            <a:ext cx="285750" cy="28575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02447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964406" y="2024472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</a:rPr>
              <a:t>Entradas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964406" y="2274503"/>
            <a:ext cx="3464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Adicionam unidades ao estoque, usadas para reposição, compras e recebimento de materiais.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1500" y="2745991"/>
            <a:ext cx="285750" cy="28575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74599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964406" y="2745991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</a:rPr>
              <a:t>Saídas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964406" y="2996022"/>
            <a:ext cx="3464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Subtraem unidades do estoque, usadas para consumo interno, vendas e reposições de setores.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571500" y="3467509"/>
            <a:ext cx="285750" cy="28575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46750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964406" y="3467509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</a:rPr>
              <a:t>Dados Registrados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964406" y="3717541"/>
            <a:ext cx="3464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Item, Tipo, Quantidade, Razão, Operador, Observações e Data/Hora exatas de cada movimentação.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571500" y="4189028"/>
            <a:ext cx="285750" cy="28575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" y="418902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964406" y="4189028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</a:rPr>
              <a:t>Atualização Automática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964406" y="4439059"/>
            <a:ext cx="3464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O estoque é recalculado instantaneamente, impedindo saídas maiores que o disponível.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5393531" y="1764506"/>
            <a:ext cx="2500313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E67E2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47134" y="1925743"/>
            <a:ext cx="1993106" cy="385763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5" name="Text 22"/>
          <p:cNvSpPr/>
          <p:nvPr/>
        </p:nvSpPr>
        <p:spPr>
          <a:xfrm>
            <a:off x="5647134" y="1925743"/>
            <a:ext cx="1993106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Entrada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6557963" y="2348229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67E22"/>
                </a:solidFill>
              </a:rPr>
              <a:t>⬇</a:t>
            </a:r>
            <a:endParaRPr lang="en-US" sz="1269" dirty="0"/>
          </a:p>
        </p:txBody>
      </p:sp>
      <p:sp>
        <p:nvSpPr>
          <p:cNvPr id="27" name="Shape 24"/>
          <p:cNvSpPr/>
          <p:nvPr/>
        </p:nvSpPr>
        <p:spPr>
          <a:xfrm>
            <a:off x="5647134" y="2642127"/>
            <a:ext cx="1993106" cy="385763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8" name="Text 25"/>
          <p:cNvSpPr/>
          <p:nvPr/>
        </p:nvSpPr>
        <p:spPr>
          <a:xfrm>
            <a:off x="5647134" y="2642127"/>
            <a:ext cx="1993106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Estoque Atualizado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6557963" y="3064613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67E22"/>
                </a:solidFill>
              </a:rPr>
              <a:t>⬇</a:t>
            </a:r>
            <a:endParaRPr lang="en-US" sz="1269" dirty="0"/>
          </a:p>
        </p:txBody>
      </p:sp>
      <p:sp>
        <p:nvSpPr>
          <p:cNvPr id="30" name="Shape 27"/>
          <p:cNvSpPr/>
          <p:nvPr/>
        </p:nvSpPr>
        <p:spPr>
          <a:xfrm>
            <a:off x="5647134" y="3358511"/>
            <a:ext cx="1993106" cy="385763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31" name="Text 28"/>
          <p:cNvSpPr/>
          <p:nvPr/>
        </p:nvSpPr>
        <p:spPr>
          <a:xfrm>
            <a:off x="5647134" y="3358511"/>
            <a:ext cx="1993106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Saída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6557963" y="3780997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67E22"/>
                </a:solidFill>
              </a:rPr>
              <a:t>⬇</a:t>
            </a:r>
            <a:endParaRPr lang="en-US" sz="1269" dirty="0"/>
          </a:p>
        </p:txBody>
      </p:sp>
      <p:sp>
        <p:nvSpPr>
          <p:cNvPr id="33" name="Shape 30"/>
          <p:cNvSpPr/>
          <p:nvPr/>
        </p:nvSpPr>
        <p:spPr>
          <a:xfrm>
            <a:off x="5647134" y="4074895"/>
            <a:ext cx="1993106" cy="385763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34" name="Text 31"/>
          <p:cNvSpPr/>
          <p:nvPr/>
        </p:nvSpPr>
        <p:spPr>
          <a:xfrm>
            <a:off x="5647134" y="4074895"/>
            <a:ext cx="1993106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Controle Preciso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919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Alerta de Estoque Baixo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00163"/>
            <a:ext cx="38219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spc="1" kern="0" dirty="0">
                <a:solidFill>
                  <a:srgbClr val="E67E22"/>
                </a:solidFill>
              </a:rPr>
              <a:t>Funcionalidade 5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564481"/>
            <a:ext cx="382190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Monitoramento Contínuo e Automático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2343150"/>
            <a:ext cx="382190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O PapelariaHub monitora continuamente o estoque de cada item, comparando a quantidade atual com o limite mínimo configurado. Quando um item atinge ou fica abaixo do limite, o sistema identifica e destaca automaticamente essa situação.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71500" y="3380333"/>
            <a:ext cx="3821906" cy="194014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3523208"/>
            <a:ext cx="35361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Exemplos de Alertas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14375" y="3823246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Item: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Papel A4 (Limite: 5 resmas)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Situação: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3 resmas em estoque → Alerta Ativo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14375" y="4274697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Item: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Caneta Azul (Limite: 20 unidades)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Situação: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15 unidades em estoque → Alerta Ativo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714375" y="4726149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Item: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Adesivo Colorido (Limite: 10 folhas)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Situação: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2 folhas em estoque → Alerta Crítico</a:t>
            </a:r>
            <a:endParaRPr lang="en-US" sz="784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94" y="1321594"/>
            <a:ext cx="150019" cy="1714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2050" y="1300163"/>
            <a:ext cx="17203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</a:rPr>
              <a:t>Dicas de Implementação</a:t>
            </a:r>
            <a:endParaRPr lang="en-US" sz="987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4" y="1678781"/>
            <a:ext cx="114300" cy="114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36331" y="1657350"/>
            <a:ext cx="27188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Configure limites mínimos realistas para cada item</a:t>
            </a:r>
            <a:endParaRPr lang="en-US" sz="83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94" y="1935956"/>
            <a:ext cx="114300" cy="114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36331" y="1914525"/>
            <a:ext cx="2833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Revise periodicamente os limites conforme consumo</a:t>
            </a:r>
            <a:endParaRPr lang="en-US" sz="834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2193131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36331" y="2171700"/>
            <a:ext cx="27274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Itens com alerta aparecem destacados na listagem</a:t>
            </a:r>
            <a:endParaRPr lang="en-US" sz="834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2450306"/>
            <a:ext cx="114300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36331" y="2428875"/>
            <a:ext cx="28651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Visualize rapidamente quais itens precisam reposição</a:t>
            </a:r>
            <a:endParaRPr lang="en-US" sz="834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2707481"/>
            <a:ext cx="114300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936331" y="2686050"/>
            <a:ext cx="27986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Integre com planejamento de compras e orçamento</a:t>
            </a:r>
            <a:endParaRPr lang="en-US" sz="834" dirty="0"/>
          </a:p>
        </p:txBody>
      </p:sp>
      <p:sp>
        <p:nvSpPr>
          <p:cNvPr id="26" name="Shape 17"/>
          <p:cNvSpPr/>
          <p:nvPr/>
        </p:nvSpPr>
        <p:spPr>
          <a:xfrm>
            <a:off x="4750594" y="3071813"/>
            <a:ext cx="2440484" cy="3429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18"/>
          <p:cNvSpPr/>
          <p:nvPr/>
        </p:nvSpPr>
        <p:spPr>
          <a:xfrm>
            <a:off x="4750594" y="3071813"/>
            <a:ext cx="2440484" cy="34290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Situação</a:t>
            </a:r>
            <a:endParaRPr lang="en-US" sz="784" dirty="0"/>
          </a:p>
        </p:txBody>
      </p:sp>
      <p:sp>
        <p:nvSpPr>
          <p:cNvPr id="28" name="Shape 19"/>
          <p:cNvSpPr/>
          <p:nvPr/>
        </p:nvSpPr>
        <p:spPr>
          <a:xfrm>
            <a:off x="7191077" y="3071813"/>
            <a:ext cx="1381423" cy="3429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0"/>
          <p:cNvSpPr/>
          <p:nvPr/>
        </p:nvSpPr>
        <p:spPr>
          <a:xfrm>
            <a:off x="7191077" y="3071813"/>
            <a:ext cx="1381423" cy="34290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Status</a:t>
            </a:r>
            <a:endParaRPr lang="en-US" sz="784" dirty="0"/>
          </a:p>
        </p:txBody>
      </p:sp>
      <p:sp>
        <p:nvSpPr>
          <p:cNvPr id="30" name="Text 21"/>
          <p:cNvSpPr/>
          <p:nvPr/>
        </p:nvSpPr>
        <p:spPr>
          <a:xfrm>
            <a:off x="4750594" y="3414713"/>
            <a:ext cx="2440484" cy="3357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Estoque acima do limite</a:t>
            </a:r>
            <a:endParaRPr lang="en-US" sz="780" dirty="0"/>
          </a:p>
        </p:txBody>
      </p:sp>
      <p:sp>
        <p:nvSpPr>
          <p:cNvPr id="31" name="Text 22"/>
          <p:cNvSpPr/>
          <p:nvPr/>
        </p:nvSpPr>
        <p:spPr>
          <a:xfrm>
            <a:off x="7191077" y="3414713"/>
            <a:ext cx="1381423" cy="3357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🟢 Normal</a:t>
            </a:r>
            <a:endParaRPr lang="en-US" sz="780" dirty="0"/>
          </a:p>
        </p:txBody>
      </p:sp>
      <p:sp>
        <p:nvSpPr>
          <p:cNvPr id="32" name="Text 23"/>
          <p:cNvSpPr/>
          <p:nvPr/>
        </p:nvSpPr>
        <p:spPr>
          <a:xfrm>
            <a:off x="4750594" y="3750469"/>
            <a:ext cx="2440484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Estoque no limite ou abaixo</a:t>
            </a:r>
            <a:endParaRPr lang="en-US" sz="780" dirty="0"/>
          </a:p>
        </p:txBody>
      </p:sp>
      <p:sp>
        <p:nvSpPr>
          <p:cNvPr id="33" name="Text 24"/>
          <p:cNvSpPr/>
          <p:nvPr/>
        </p:nvSpPr>
        <p:spPr>
          <a:xfrm>
            <a:off x="7191077" y="3750469"/>
            <a:ext cx="1381423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🟠 Alerta</a:t>
            </a:r>
            <a:endParaRPr lang="en-US" sz="780" dirty="0"/>
          </a:p>
        </p:txBody>
      </p:sp>
      <p:sp>
        <p:nvSpPr>
          <p:cNvPr id="34" name="Text 25"/>
          <p:cNvSpPr/>
          <p:nvPr/>
        </p:nvSpPr>
        <p:spPr>
          <a:xfrm>
            <a:off x="4750594" y="4089797"/>
            <a:ext cx="2440484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Estoque crítico (muito baixo)</a:t>
            </a:r>
            <a:endParaRPr lang="en-US" sz="780" dirty="0"/>
          </a:p>
        </p:txBody>
      </p:sp>
      <p:sp>
        <p:nvSpPr>
          <p:cNvPr id="35" name="Text 26"/>
          <p:cNvSpPr/>
          <p:nvPr/>
        </p:nvSpPr>
        <p:spPr>
          <a:xfrm>
            <a:off x="7191077" y="4089797"/>
            <a:ext cx="1381423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🔴 Crítico</a:t>
            </a:r>
            <a:endParaRPr lang="en-US" sz="780" dirty="0"/>
          </a:p>
        </p:txBody>
      </p:sp>
      <p:sp>
        <p:nvSpPr>
          <p:cNvPr id="36" name="Text 27"/>
          <p:cNvSpPr/>
          <p:nvPr/>
        </p:nvSpPr>
        <p:spPr>
          <a:xfrm>
            <a:off x="4750594" y="4429125"/>
            <a:ext cx="2440484" cy="3357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Sem histórico de consumo</a:t>
            </a:r>
            <a:endParaRPr lang="en-US" sz="780" dirty="0"/>
          </a:p>
        </p:txBody>
      </p:sp>
      <p:sp>
        <p:nvSpPr>
          <p:cNvPr id="37" name="Text 28"/>
          <p:cNvSpPr/>
          <p:nvPr/>
        </p:nvSpPr>
        <p:spPr>
          <a:xfrm>
            <a:off x="7191077" y="4429125"/>
            <a:ext cx="1381423" cy="3357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⚪ Sem dados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576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Relatórios Gerenciais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00163"/>
            <a:ext cx="38219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67E22"/>
                </a:solidFill>
              </a:rPr>
              <a:t>Funcionalidade 5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585913"/>
            <a:ext cx="382190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Relatórios Filtrados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2028825"/>
            <a:ext cx="38219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O sistema permite gerar relatórios completos e personalizados, filtrando por período, item específico ou todos os itens, com cálculos automáticos de entradas e saídas.</a:t>
            </a:r>
            <a:endParaRPr lang="en-US" sz="942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17441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106" y="2860291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Filtros Flexíveis: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Escolha entre item específico ou todos os itens,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com seleção de data inicial e final.</a:t>
            </a:r>
            <a:endParaRPr lang="en-US" sz="78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03216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106" y="3346066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Cálculos Automáticos: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Total de entradas e saídas no período são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calculados instantaneamente.</a:t>
            </a:r>
            <a:endParaRPr lang="en-US" sz="78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88991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106" y="3831841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Detalhamento Completo: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Cada movimentação exibe data, item,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tipo, quantidade, razão e operador responsável.</a:t>
            </a:r>
            <a:endParaRPr lang="en-US" sz="78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74766"/>
            <a:ext cx="171450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0106" y="4317616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Análise Estratégica: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 Ideal para prestação de contas, análises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internas e documentação organizacional.</a:t>
            </a:r>
            <a:endParaRPr lang="en-US" sz="784" dirty="0"/>
          </a:p>
        </p:txBody>
      </p:sp>
      <p:sp>
        <p:nvSpPr>
          <p:cNvPr id="17" name="Shape 10"/>
          <p:cNvSpPr/>
          <p:nvPr/>
        </p:nvSpPr>
        <p:spPr>
          <a:xfrm>
            <a:off x="4750594" y="1300163"/>
            <a:ext cx="3821906" cy="1857291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8" name="Text 11"/>
          <p:cNvSpPr/>
          <p:nvPr/>
        </p:nvSpPr>
        <p:spPr>
          <a:xfrm>
            <a:off x="4893469" y="1443038"/>
            <a:ext cx="35361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Filtros Disponíveis</a:t>
            </a:r>
            <a:endParaRPr lang="en-US" sz="885" dirty="0"/>
          </a:p>
        </p:txBody>
      </p:sp>
      <p:sp>
        <p:nvSpPr>
          <p:cNvPr id="19" name="Text 12"/>
          <p:cNvSpPr/>
          <p:nvPr/>
        </p:nvSpPr>
        <p:spPr>
          <a:xfrm>
            <a:off x="4893469" y="1743075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Item Específico ou Todos os Itens</a:t>
            </a:r>
            <a:endParaRPr lang="en-US" sz="784" dirty="0"/>
          </a:p>
        </p:txBody>
      </p:sp>
      <p:sp>
        <p:nvSpPr>
          <p:cNvPr id="20" name="Text 13"/>
          <p:cNvSpPr/>
          <p:nvPr/>
        </p:nvSpPr>
        <p:spPr>
          <a:xfrm>
            <a:off x="4893469" y="1997376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Data Inicial (seleção por calendário)</a:t>
            </a:r>
            <a:endParaRPr lang="en-US" sz="784" dirty="0"/>
          </a:p>
        </p:txBody>
      </p:sp>
      <p:sp>
        <p:nvSpPr>
          <p:cNvPr id="21" name="Text 14"/>
          <p:cNvSpPr/>
          <p:nvPr/>
        </p:nvSpPr>
        <p:spPr>
          <a:xfrm>
            <a:off x="4893469" y="2251677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Data Final (seleção por calendário)</a:t>
            </a:r>
            <a:endParaRPr lang="en-US" sz="784" dirty="0"/>
          </a:p>
        </p:txBody>
      </p:sp>
      <p:sp>
        <p:nvSpPr>
          <p:cNvPr id="22" name="Text 15"/>
          <p:cNvSpPr/>
          <p:nvPr/>
        </p:nvSpPr>
        <p:spPr>
          <a:xfrm>
            <a:off x="4893469" y="2505977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Tipo de Movimentação (Entrada/Saída)</a:t>
            </a:r>
            <a:endParaRPr lang="en-US" sz="784" dirty="0"/>
          </a:p>
        </p:txBody>
      </p:sp>
      <p:sp>
        <p:nvSpPr>
          <p:cNvPr id="23" name="Text 16"/>
          <p:cNvSpPr/>
          <p:nvPr/>
        </p:nvSpPr>
        <p:spPr>
          <a:xfrm>
            <a:off x="4893469" y="2760278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Ordenação por Data ou Item</a:t>
            </a:r>
            <a:endParaRPr lang="en-US" sz="784" dirty="0"/>
          </a:p>
        </p:txBody>
      </p:sp>
      <p:sp>
        <p:nvSpPr>
          <p:cNvPr id="24" name="Shape 17"/>
          <p:cNvSpPr/>
          <p:nvPr/>
        </p:nvSpPr>
        <p:spPr>
          <a:xfrm>
            <a:off x="4750594" y="3300329"/>
            <a:ext cx="3821906" cy="1857291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5" name="Text 18"/>
          <p:cNvSpPr/>
          <p:nvPr/>
        </p:nvSpPr>
        <p:spPr>
          <a:xfrm>
            <a:off x="4893469" y="3443204"/>
            <a:ext cx="35361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Informações Calculadas</a:t>
            </a:r>
            <a:endParaRPr lang="en-US" sz="885" dirty="0"/>
          </a:p>
        </p:txBody>
      </p:sp>
      <p:sp>
        <p:nvSpPr>
          <p:cNvPr id="26" name="Text 19"/>
          <p:cNvSpPr/>
          <p:nvPr/>
        </p:nvSpPr>
        <p:spPr>
          <a:xfrm>
            <a:off x="4893469" y="3743241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Total de Entradas no Período</a:t>
            </a:r>
            <a:endParaRPr lang="en-US" sz="784" dirty="0"/>
          </a:p>
        </p:txBody>
      </p:sp>
      <p:sp>
        <p:nvSpPr>
          <p:cNvPr id="27" name="Text 20"/>
          <p:cNvSpPr/>
          <p:nvPr/>
        </p:nvSpPr>
        <p:spPr>
          <a:xfrm>
            <a:off x="4893469" y="3997542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Total de Saídas no Período</a:t>
            </a:r>
            <a:endParaRPr lang="en-US" sz="784" dirty="0"/>
          </a:p>
        </p:txBody>
      </p:sp>
      <p:sp>
        <p:nvSpPr>
          <p:cNvPr id="28" name="Text 21"/>
          <p:cNvSpPr/>
          <p:nvPr/>
        </p:nvSpPr>
        <p:spPr>
          <a:xfrm>
            <a:off x="4893469" y="4251843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Saldo Líquido (Entradas - Saídas)</a:t>
            </a:r>
            <a:endParaRPr lang="en-US" sz="784" dirty="0"/>
          </a:p>
        </p:txBody>
      </p:sp>
      <p:sp>
        <p:nvSpPr>
          <p:cNvPr id="29" name="Text 22"/>
          <p:cNvSpPr/>
          <p:nvPr/>
        </p:nvSpPr>
        <p:spPr>
          <a:xfrm>
            <a:off x="4893469" y="4506144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Quantidade de Movimentações</a:t>
            </a:r>
            <a:endParaRPr lang="en-US" sz="784" dirty="0"/>
          </a:p>
        </p:txBody>
      </p:sp>
      <p:sp>
        <p:nvSpPr>
          <p:cNvPr id="30" name="Text 23"/>
          <p:cNvSpPr/>
          <p:nvPr/>
        </p:nvSpPr>
        <p:spPr>
          <a:xfrm>
            <a:off x="4893469" y="4760444"/>
            <a:ext cx="35361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7E22"/>
                </a:solidFill>
              </a:rPr>
              <a:t>•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 Operadores Envolvidos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63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1287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52876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1287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Previsão de Esgotamento: Diferencial Competitivo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743075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67E22"/>
                </a:solidFill>
              </a:rPr>
              <a:t>Funcionalidade Avançada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993106"/>
            <a:ext cx="38576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Cálculo Baseado em Consumo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2436019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A previsão de esgotamento é a funcionalidade mais importante do PapelariaHub, permitindo ao usuário planejar reposições com antecedência.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71500" y="3196047"/>
            <a:ext cx="3857625" cy="1500188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3196047"/>
            <a:ext cx="42863" cy="15001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3338922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Como Funciona o Cálculo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14375" y="3638959"/>
            <a:ext cx="3571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Analisa todas as saídas registradas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714375" y="3867559"/>
            <a:ext cx="3571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Calcula a média diária de consumo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714375" y="4096159"/>
            <a:ext cx="3571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Considera a quantidade atual do estoque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714375" y="4324759"/>
            <a:ext cx="3571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Gera previsão de dias restantes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714875" y="1743075"/>
            <a:ext cx="1544027" cy="3429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75" y="1743075"/>
            <a:ext cx="1544027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Classificação de Risco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6258902" y="1743075"/>
            <a:ext cx="2313598" cy="3429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6258902" y="1743075"/>
            <a:ext cx="2313598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Situação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4714875" y="2085975"/>
            <a:ext cx="1544027" cy="34647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1" name="Shape 18"/>
          <p:cNvSpPr/>
          <p:nvPr/>
        </p:nvSpPr>
        <p:spPr>
          <a:xfrm>
            <a:off x="4714875" y="2425303"/>
            <a:ext cx="1544027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2" name="Text 19"/>
          <p:cNvSpPr/>
          <p:nvPr/>
        </p:nvSpPr>
        <p:spPr>
          <a:xfrm>
            <a:off x="4714875" y="2085975"/>
            <a:ext cx="1544027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🔴 Crítico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258902" y="2085975"/>
            <a:ext cx="2313598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Pode acabar em poucos dias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4714875" y="2432447"/>
            <a:ext cx="1544027" cy="35004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5" name="Shape 22"/>
          <p:cNvSpPr/>
          <p:nvPr/>
        </p:nvSpPr>
        <p:spPr>
          <a:xfrm>
            <a:off x="4714875" y="2775347"/>
            <a:ext cx="1544027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Text 23"/>
          <p:cNvSpPr/>
          <p:nvPr/>
        </p:nvSpPr>
        <p:spPr>
          <a:xfrm>
            <a:off x="4714875" y="2432447"/>
            <a:ext cx="1544027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🟠 Atenção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258902" y="2432447"/>
            <a:ext cx="2313598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Menos de uma semana de estoque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4714875" y="2782491"/>
            <a:ext cx="1544027" cy="35004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Shape 26"/>
          <p:cNvSpPr/>
          <p:nvPr/>
        </p:nvSpPr>
        <p:spPr>
          <a:xfrm>
            <a:off x="4714875" y="3125391"/>
            <a:ext cx="1544027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7"/>
          <p:cNvSpPr/>
          <p:nvPr/>
        </p:nvSpPr>
        <p:spPr>
          <a:xfrm>
            <a:off x="4714875" y="2782491"/>
            <a:ext cx="1544027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🟢 Confortável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258902" y="2782491"/>
            <a:ext cx="2313598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Estoque em nível seguro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4714875" y="3132534"/>
            <a:ext cx="1544027" cy="3464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0"/>
          <p:cNvSpPr/>
          <p:nvPr/>
        </p:nvSpPr>
        <p:spPr>
          <a:xfrm>
            <a:off x="4714875" y="3132534"/>
            <a:ext cx="1544027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⚪ Sem Dados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6258902" y="3132534"/>
            <a:ext cx="2313598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Dados insuficientes para prever</a:t>
            </a:r>
            <a:endParaRPr lang="en-US" sz="834" dirty="0"/>
          </a:p>
        </p:txBody>
      </p:sp>
      <p:sp>
        <p:nvSpPr>
          <p:cNvPr id="35" name="Shape 32"/>
          <p:cNvSpPr/>
          <p:nvPr/>
        </p:nvSpPr>
        <p:spPr>
          <a:xfrm>
            <a:off x="4714875" y="3621881"/>
            <a:ext cx="3857625" cy="9286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Shape 33"/>
          <p:cNvSpPr/>
          <p:nvPr/>
        </p:nvSpPr>
        <p:spPr>
          <a:xfrm>
            <a:off x="4714875" y="3621881"/>
            <a:ext cx="42863" cy="92868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7" name="Text 34"/>
          <p:cNvSpPr/>
          <p:nvPr/>
        </p:nvSpPr>
        <p:spPr>
          <a:xfrm>
            <a:off x="4857750" y="3764756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Benefício Estratégico</a:t>
            </a:r>
            <a:endParaRPr lang="en-US" sz="987" dirty="0"/>
          </a:p>
        </p:txBody>
      </p:sp>
      <p:sp>
        <p:nvSpPr>
          <p:cNvPr id="38" name="Text 35"/>
          <p:cNvSpPr/>
          <p:nvPr/>
        </p:nvSpPr>
        <p:spPr>
          <a:xfrm>
            <a:off x="4857750" y="4064794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Planejamento proativo de reposições, evitando falta de materiais e otimizando custos de compra.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020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Interface e Usabilidade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157288"/>
            <a:ext cx="8001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O PapelariaHub oferece uma interface limpa e organizada, preparada para uso diário e demonstrações ao vivo.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1528763"/>
            <a:ext cx="3893344" cy="450056"/>
          </a:xfrm>
          <a:prstGeom prst="rect">
            <a:avLst/>
          </a:prstGeom>
          <a:solidFill>
            <a:srgbClr val="5DADE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70" y="1676995"/>
            <a:ext cx="176808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9578" y="1646634"/>
            <a:ext cx="20539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Dashboard (Página Inicial)</a:t>
            </a:r>
            <a:endParaRPr lang="en-US" sz="1090" dirty="0"/>
          </a:p>
        </p:txBody>
      </p:sp>
      <p:sp>
        <p:nvSpPr>
          <p:cNvPr id="10" name="Shape 6"/>
          <p:cNvSpPr/>
          <p:nvPr/>
        </p:nvSpPr>
        <p:spPr>
          <a:xfrm>
            <a:off x="571500" y="1978819"/>
            <a:ext cx="3893344" cy="3566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750094" y="2157413"/>
            <a:ext cx="3536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Página inicial intuitiva com apresentação clara do sistema e acesso rápido a todas as funcionalidades.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885825" y="2643188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Nome do Sistema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885825" y="2850356"/>
            <a:ext cx="34004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Identificação clara e destaque do "PapelariaHub" na página inicial.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885825" y="3097513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Menu Rápido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885825" y="3304682"/>
            <a:ext cx="34004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Acesso direto a: Grupos, Itens, Movimentações, Previsão e Relatório.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885825" y="3551839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Layout Organizado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885825" y="3759008"/>
            <a:ext cx="340042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Estrutura visual clara com espaçamento adequado e hierarquia de informações.</a:t>
            </a:r>
            <a:endParaRPr lang="en-US" sz="727" dirty="0"/>
          </a:p>
        </p:txBody>
      </p:sp>
      <p:sp>
        <p:nvSpPr>
          <p:cNvPr id="18" name="Text 14"/>
          <p:cNvSpPr/>
          <p:nvPr/>
        </p:nvSpPr>
        <p:spPr>
          <a:xfrm>
            <a:off x="885825" y="4146166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Preparado para Demonstração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885825" y="4353334"/>
            <a:ext cx="34004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Design profissional e responsivo, ideal para apresentações ao vivo.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750094" y="4636210"/>
            <a:ext cx="3536156" cy="730058"/>
          </a:xfrm>
          <a:prstGeom prst="rect">
            <a:avLst/>
          </a:prstGeom>
          <a:solidFill>
            <a:srgbClr val="F5F5DC"/>
          </a:solidFill>
          <a:ln w="18288">
            <a:solidFill>
              <a:srgbClr val="E67E2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7250" y="4743366"/>
            <a:ext cx="33218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7E22"/>
                </a:solidFill>
              </a:rPr>
              <a:t>Acesso:</a:t>
            </a:r>
            <a:endParaRPr lang="en-US" sz="683" dirty="0"/>
          </a:p>
        </p:txBody>
      </p:sp>
      <p:sp>
        <p:nvSpPr>
          <p:cNvPr id="22" name="Text 18"/>
          <p:cNvSpPr/>
          <p:nvPr/>
        </p:nvSpPr>
        <p:spPr>
          <a:xfrm>
            <a:off x="857250" y="4950535"/>
            <a:ext cx="33218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python PapelariaHub/central.py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Depois abrir: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http://127.0.0.1:5000/</a:t>
            </a:r>
            <a:endParaRPr lang="en-US" sz="683" dirty="0"/>
          </a:p>
        </p:txBody>
      </p:sp>
      <p:sp>
        <p:nvSpPr>
          <p:cNvPr id="23" name="Shape 19"/>
          <p:cNvSpPr/>
          <p:nvPr/>
        </p:nvSpPr>
        <p:spPr>
          <a:xfrm>
            <a:off x="4679156" y="1528763"/>
            <a:ext cx="3893344" cy="450056"/>
          </a:xfrm>
          <a:prstGeom prst="rect">
            <a:avLst/>
          </a:prstGeom>
          <a:solidFill>
            <a:srgbClr val="5DADE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265" y="1676995"/>
            <a:ext cx="137517" cy="15716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472782" y="1646634"/>
            <a:ext cx="24435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Menu Rápido (Funcionalidades)</a:t>
            </a:r>
            <a:endParaRPr lang="en-US" sz="1090" dirty="0"/>
          </a:p>
        </p:txBody>
      </p:sp>
      <p:sp>
        <p:nvSpPr>
          <p:cNvPr id="26" name="Shape 21"/>
          <p:cNvSpPr/>
          <p:nvPr/>
        </p:nvSpPr>
        <p:spPr>
          <a:xfrm>
            <a:off x="4679156" y="1978819"/>
            <a:ext cx="3893344" cy="35374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4857750" y="2157413"/>
            <a:ext cx="3536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Navegação intuitiva com acesso centralizado a todas as operações do sistema.</a:t>
            </a:r>
            <a:endParaRPr lang="en-US" sz="834" dirty="0"/>
          </a:p>
        </p:txBody>
      </p:sp>
      <p:sp>
        <p:nvSpPr>
          <p:cNvPr id="28" name="Text 23"/>
          <p:cNvSpPr/>
          <p:nvPr/>
        </p:nvSpPr>
        <p:spPr>
          <a:xfrm>
            <a:off x="4993481" y="2643188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Grupos</a:t>
            </a:r>
            <a:endParaRPr lang="en-US" sz="784" dirty="0"/>
          </a:p>
        </p:txBody>
      </p:sp>
      <p:sp>
        <p:nvSpPr>
          <p:cNvPr id="29" name="Text 24"/>
          <p:cNvSpPr/>
          <p:nvPr/>
        </p:nvSpPr>
        <p:spPr>
          <a:xfrm>
            <a:off x="4993481" y="2850356"/>
            <a:ext cx="34004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Criar e gerenciar categorias de materiais (Papel, Escrita, etc.).</a:t>
            </a:r>
            <a:endParaRPr lang="en-US" sz="727" dirty="0"/>
          </a:p>
        </p:txBody>
      </p:sp>
      <p:sp>
        <p:nvSpPr>
          <p:cNvPr id="30" name="Text 25"/>
          <p:cNvSpPr/>
          <p:nvPr/>
        </p:nvSpPr>
        <p:spPr>
          <a:xfrm>
            <a:off x="4993481" y="3097513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Itens</a:t>
            </a:r>
            <a:endParaRPr lang="en-US" sz="784" dirty="0"/>
          </a:p>
        </p:txBody>
      </p:sp>
      <p:sp>
        <p:nvSpPr>
          <p:cNvPr id="31" name="Text 26"/>
          <p:cNvSpPr/>
          <p:nvPr/>
        </p:nvSpPr>
        <p:spPr>
          <a:xfrm>
            <a:off x="4993481" y="3304682"/>
            <a:ext cx="34004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Cadastrar, editar e visualizar todos os produtos do estoque.</a:t>
            </a:r>
            <a:endParaRPr lang="en-US" sz="727" dirty="0"/>
          </a:p>
        </p:txBody>
      </p:sp>
      <p:sp>
        <p:nvSpPr>
          <p:cNvPr id="32" name="Text 27"/>
          <p:cNvSpPr/>
          <p:nvPr/>
        </p:nvSpPr>
        <p:spPr>
          <a:xfrm>
            <a:off x="4993481" y="3551839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Movimentações</a:t>
            </a:r>
            <a:endParaRPr lang="en-US" sz="784" dirty="0"/>
          </a:p>
        </p:txBody>
      </p:sp>
      <p:sp>
        <p:nvSpPr>
          <p:cNvPr id="33" name="Text 28"/>
          <p:cNvSpPr/>
          <p:nvPr/>
        </p:nvSpPr>
        <p:spPr>
          <a:xfrm>
            <a:off x="4993481" y="3759008"/>
            <a:ext cx="34004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Registrar entradas e saídas com histórico das últimas 20 operações.</a:t>
            </a:r>
            <a:endParaRPr lang="en-US" sz="727" dirty="0"/>
          </a:p>
        </p:txBody>
      </p:sp>
      <p:sp>
        <p:nvSpPr>
          <p:cNvPr id="34" name="Text 29"/>
          <p:cNvSpPr/>
          <p:nvPr/>
        </p:nvSpPr>
        <p:spPr>
          <a:xfrm>
            <a:off x="4993481" y="4006165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Previsão</a:t>
            </a:r>
            <a:endParaRPr lang="en-US" sz="784" dirty="0"/>
          </a:p>
        </p:txBody>
      </p:sp>
      <p:sp>
        <p:nvSpPr>
          <p:cNvPr id="35" name="Text 30"/>
          <p:cNvSpPr/>
          <p:nvPr/>
        </p:nvSpPr>
        <p:spPr>
          <a:xfrm>
            <a:off x="4993481" y="4213334"/>
            <a:ext cx="34004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Visualizar previsão de esgotamento com classificação de risco.</a:t>
            </a:r>
            <a:endParaRPr lang="en-US" sz="727" dirty="0"/>
          </a:p>
        </p:txBody>
      </p:sp>
      <p:sp>
        <p:nvSpPr>
          <p:cNvPr id="36" name="Shape 31"/>
          <p:cNvSpPr/>
          <p:nvPr/>
        </p:nvSpPr>
        <p:spPr>
          <a:xfrm>
            <a:off x="4857750" y="4496209"/>
            <a:ext cx="3536156" cy="730058"/>
          </a:xfrm>
          <a:prstGeom prst="rect">
            <a:avLst/>
          </a:prstGeom>
          <a:solidFill>
            <a:srgbClr val="F5F5DC"/>
          </a:solidFill>
          <a:ln w="18288">
            <a:solidFill>
              <a:srgbClr val="E67E2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964906" y="4603366"/>
            <a:ext cx="33218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7E22"/>
                </a:solidFill>
              </a:rPr>
              <a:t>Funcionalidade Extra:</a:t>
            </a:r>
            <a:endParaRPr lang="en-US" sz="683" dirty="0"/>
          </a:p>
        </p:txBody>
      </p:sp>
      <p:sp>
        <p:nvSpPr>
          <p:cNvPr id="38" name="Text 33"/>
          <p:cNvSpPr/>
          <p:nvPr/>
        </p:nvSpPr>
        <p:spPr>
          <a:xfrm>
            <a:off x="4964906" y="4810534"/>
            <a:ext cx="33218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Relatório: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Gerar relatórios filtrados por período com totais de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entradas e saídas.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014413"/>
            <a:ext cx="800100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Arquitetura e Código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28725"/>
            <a:ext cx="72009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O PapelariaHub foi construído com foco em estabilidade, transparência e facilidade de manutenção, utilizando tecnologias modernas e práticas de desenvolvimento profissional.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1818754"/>
            <a:ext cx="3911203" cy="10929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14375" y="1961629"/>
            <a:ext cx="357188" cy="357188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59" y="2054498"/>
            <a:ext cx="150019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8719" y="1961629"/>
            <a:ext cx="316110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Banco de Dados Persistente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1178719" y="2254523"/>
            <a:ext cx="31611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SQLite salva permanentemente todos os itens, grupos, histórico de movimentações e previsões. Nada é perdido ao fechar o sistema.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4661297" y="1818754"/>
            <a:ext cx="3911203" cy="10929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804172" y="1961629"/>
            <a:ext cx="357188" cy="357188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609" y="2054498"/>
            <a:ext cx="214313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68516" y="1961629"/>
            <a:ext cx="316110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Código Limpo e Organizado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5268516" y="2254523"/>
            <a:ext cx="31611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Projeto totalmente autoral com estrutura própria, nomes originais e código organizado em um único arquivo principal (central.py).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571500" y="3090342"/>
            <a:ext cx="3911203" cy="10929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714375" y="3233217"/>
            <a:ext cx="357188" cy="357188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28" y="3326085"/>
            <a:ext cx="192881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78719" y="3233217"/>
            <a:ext cx="316110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Arquitetura Modular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1178719" y="3526110"/>
            <a:ext cx="31611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Templates separados em HTML na pasta templates/, separação clara de responsabilidades, fácil compreensão e explicação em ambiente acadêmico.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4661297" y="3090342"/>
            <a:ext cx="3911203" cy="10929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804172" y="3233217"/>
            <a:ext cx="357188" cy="357188"/>
          </a:xfrm>
          <a:prstGeom prst="ellipse">
            <a:avLst/>
          </a:prstGeom>
          <a:solidFill>
            <a:srgbClr val="5DADE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041" y="3326085"/>
            <a:ext cx="171450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68516" y="3233217"/>
            <a:ext cx="316110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67E22"/>
                </a:solidFill>
              </a:rPr>
              <a:t>Fácil Manutenção</a:t>
            </a:r>
            <a:endParaRPr lang="en-US" sz="1090" dirty="0"/>
          </a:p>
        </p:txBody>
      </p:sp>
      <p:sp>
        <p:nvSpPr>
          <p:cNvPr id="26" name="Text 19"/>
          <p:cNvSpPr/>
          <p:nvPr/>
        </p:nvSpPr>
        <p:spPr>
          <a:xfrm>
            <a:off x="5268516" y="3526110"/>
            <a:ext cx="31611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Design simples e uniforme, documentação clara, estrutura intuitiva que facilita futuras modificações e expansões do sistema.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77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14413"/>
            <a:ext cx="8286750" cy="285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6143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3E50"/>
                </a:solidFill>
              </a:rPr>
              <a:t>Resumo e Conclusão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050131" y="1230902"/>
            <a:ext cx="704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O PapelariaHub é um sistema web completo para gerenciamento de estoque de materiais de papelaria, oferecendo funcionalidades práticas que facilitam o controle diário e a tomada de decisões estratégicas.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3" y="2002427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1569" y="1938133"/>
            <a:ext cx="336113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C3E50"/>
                </a:solidFill>
              </a:rPr>
              <a:t>Funcionalidades Completas: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 Cadastro de grupos e itens,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registro de movimentações, relatórios filtrados e alertas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de estoque baixo.</a:t>
            </a:r>
            <a:endParaRPr lang="en-US" sz="83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297" y="2002427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39903" y="1938133"/>
            <a:ext cx="336113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C3E50"/>
                </a:solidFill>
              </a:rPr>
              <a:t>Controle Automático: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 Atualização instantânea de estoque,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identificação automática de itens com estoque baixo e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histórico completo.</a:t>
            </a:r>
            <a:endParaRPr lang="en-US" sz="83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2727517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21569" y="2663223"/>
            <a:ext cx="336113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C3E50"/>
                </a:solidFill>
              </a:rPr>
              <a:t>Previsão Inteligente: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 Cálculo automático de consumo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diário e previsão de esgotamento com classificação de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risco.</a:t>
            </a:r>
            <a:endParaRPr lang="en-US" sz="83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297" y="2727517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39903" y="2663223"/>
            <a:ext cx="336113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C3E50"/>
                </a:solidFill>
              </a:rPr>
              <a:t>Tecnologia Sólida: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 Desenvolvido com Flask + SQLite,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garantindo leveza, portabilidade e banco de dados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persistente.</a:t>
            </a:r>
            <a:endParaRPr lang="en-US" sz="834" dirty="0"/>
          </a:p>
        </p:txBody>
      </p:sp>
      <p:sp>
        <p:nvSpPr>
          <p:cNvPr id="15" name="Shape 8"/>
          <p:cNvSpPr/>
          <p:nvPr/>
        </p:nvSpPr>
        <p:spPr>
          <a:xfrm>
            <a:off x="1050131" y="3459752"/>
            <a:ext cx="7043738" cy="1252947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6" name="Text 9"/>
          <p:cNvSpPr/>
          <p:nvPr/>
        </p:nvSpPr>
        <p:spPr>
          <a:xfrm>
            <a:off x="1228725" y="3638345"/>
            <a:ext cx="66865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O PapelariaHub é um sistema web completo para gerenciamento de estoque de materiais de papelaria. Ele permite cadastrar grupos e itens, registrar entradas e saídas, gerar relatórios filtrados, identificar estoque baixo e prever quando os materiais irão se esgotar com base no histórico de consumo.</a:t>
            </a:r>
            <a:endParaRPr lang="en-US" sz="942" dirty="0"/>
          </a:p>
        </p:txBody>
      </p:sp>
      <p:sp>
        <p:nvSpPr>
          <p:cNvPr id="17" name="Text 10"/>
          <p:cNvSpPr/>
          <p:nvPr/>
        </p:nvSpPr>
        <p:spPr>
          <a:xfrm>
            <a:off x="1228725" y="4362655"/>
            <a:ext cx="6686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Próximos Passos: python PapelariaHub/central.py → http://127.0.0.1:5000/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2025-11-18T02:36:27Z</dcterms:created>
  <dcterms:modified xsi:type="dcterms:W3CDTF">2025-11-18T02:36:27Z</dcterms:modified>
</cp:coreProperties>
</file>